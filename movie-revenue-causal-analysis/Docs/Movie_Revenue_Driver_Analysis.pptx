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1B2D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F1B2D"/>
                </a:solidFill>
                <a:latin typeface="Arial"/>
              </a:rPr>
              <a:t>Missing values by column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Missing %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A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belongs_to_collection</c:v>
                </c:pt>
                <c:pt idx="1">
                  <c:v>homepage</c:v>
                </c:pt>
                <c:pt idx="2">
                  <c:v>tagline</c:v>
                </c:pt>
                <c:pt idx="3">
                  <c:v>Keywords</c:v>
                </c:pt>
                <c:pt idx="4">
                  <c:v>production_companies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80</c:v>
                </c:pt>
                <c:pt idx="1">
                  <c:v>68</c:v>
                </c:pt>
                <c:pt idx="2">
                  <c:v>20</c:v>
                </c:pt>
                <c:pt idx="3">
                  <c:v>9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6E-447D-A465-65878052408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A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1B2D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F1B2D"/>
                </a:solidFill>
                <a:latin typeface="Arial"/>
              </a:rPr>
              <a:t>Median revenue by budget band ($M)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revenue ($M)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A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Under $10M</c:v>
                </c:pt>
                <c:pt idx="1">
                  <c:v>$10M-$50M</c:v>
                </c:pt>
                <c:pt idx="2">
                  <c:v>$50M-$100M</c:v>
                </c:pt>
                <c:pt idx="3">
                  <c:v>$100M+</c:v>
                </c:pt>
                <c:pt idx="4">
                  <c:v>Unknown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5.8</c:v>
                </c:pt>
                <c:pt idx="1">
                  <c:v>37.700000000000003</c:v>
                </c:pt>
                <c:pt idx="2">
                  <c:v>128.9</c:v>
                </c:pt>
                <c:pt idx="3">
                  <c:v>362.6</c:v>
                </c:pt>
                <c:pt idx="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90F-4A0F-80BE-6F6AB5B5873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A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1B2D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F1B2D"/>
                </a:solidFill>
                <a:latin typeface="Arial"/>
              </a:rPr>
              <a:t>Budget effect (elasticity) by model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 elasticity</c:v>
                </c:pt>
              </c:strCache>
            </c:strRef>
          </c:tx>
          <c:spPr>
            <a:solidFill>
              <a:srgbClr val="B8BFC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7D6-4DAE-9C5D-CEF55C743301}"/>
              </c:ext>
            </c:extLst>
          </c:dPt>
          <c:dPt>
            <c:idx val="1"/>
            <c:invertIfNegative val="0"/>
            <c:bubble3D val="0"/>
            <c:spPr>
              <a:solidFill>
                <a:srgbClr val="2A9D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7D6-4DAE-9C5D-CEF55C743301}"/>
              </c:ext>
            </c:extLst>
          </c:dPt>
          <c:dPt>
            <c:idx val="2"/>
            <c:invertIfNegative val="0"/>
            <c:bubble3D val="0"/>
            <c:spPr>
              <a:solidFill>
                <a:srgbClr val="C844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7D6-4DAE-9C5D-CEF55C743301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A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Naive</c:v>
                </c:pt>
                <c:pt idx="1">
                  <c:v>Adjusted (correct)</c:v>
                </c:pt>
                <c:pt idx="2">
                  <c:v>Wrong: + popularity, cast size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0.78</c:v>
                </c:pt>
                <c:pt idx="1">
                  <c:v>0.7</c:v>
                </c:pt>
                <c:pt idx="2">
                  <c:v>0.56000000000000005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7D6-4DAE-9C5D-CEF55C74330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A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9026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the goal is to separate the true effect of budget and franchise status on revenue from the effect of other factors that move together with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idea: correlation mixes the budget effect with other effects. Causal methods adjust only for the right variables.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cleaning decisions matter: treating zero budgets as missing and fixing the 2-digit years prevent biased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descriptive comparisons. They motivate the causal question but do not prove causation.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Blue variables cause both budget and revenue, so we adjust for them. Cast size and popularity are consequences of budget, so adjusting for them would bias the estimate.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different estimators agree on the franchise effect, which makes the result more trustworthy. Refutation tests try to break the estimate.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Adjusting for confounders lowers the budget estimate from 0.78 to 0.70. Adding consequences of budget lowers it further to 0.56, which is biased.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Placebo, random-confounder and subset tests pass. The revenue filter changes the estimate, so we report a range. Bad controls bias the estimate, which is why the DAG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app has four pages with sidebar filters. It loads the cleaned data once using caching. The histogram bins revenue in log10 space so the skew is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what-if page converts the adjusted budget elasticity into an expected revenue change with a 95% interval. It is an average effect, not a guarantee.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report pages built on a small data model. The what-if parameter links directly to the causal estimate from the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pages use the full dataset (all slicers cleared). Franchise films have a much higher median revenue than standalone films, and December, June and July are the strongest release months. These are descriptive comparisons.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page links the notebook's causal estimates to an interactive what-if slider. At +10% budget change the central estimate is 6.9% revenue change, with a range of 5.6% to 8.3%.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three takeaways, then state the limitations honestly. Offer to demo the Streamlit app and Power BI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1097280"/>
            <a:ext cx="3840480" cy="3840480"/>
          </a:xfrm>
          <a:prstGeom prst="ellipse">
            <a:avLst/>
          </a:prstGeom>
          <a:solidFill>
            <a:srgbClr val="1B2D47"/>
          </a:solidFill>
          <a:ln w="12700">
            <a:solidFill>
              <a:srgbClr val="1B2D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108960"/>
            <a:ext cx="2377440" cy="2377440"/>
          </a:xfrm>
          <a:prstGeom prst="ellipse">
            <a:avLst/>
          </a:prstGeom>
          <a:solidFill>
            <a:srgbClr val="15233A"/>
          </a:solidFill>
          <a:ln w="12700">
            <a:solidFill>
              <a:srgbClr val="1523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INFERENCE PROJECT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34440"/>
            <a:ext cx="6583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Movie Revenue Driver Analysis Using Causal Models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0632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drives box-office revenue: budget, franchise status, or something else?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977640"/>
            <a:ext cx="915610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NITHISHKUMAR P                                                                                                                         github.com/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Nithishey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3159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|  Causal inference  |  Streamlit  |  Power BI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causal analysis, not just prediction?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NITHISHKUMAR P  |  Movie Revenue Driver Analysis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097280"/>
            <a:ext cx="4480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says big-budget movies earn more.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big budgets also come with franchises, recent release years, English-language films and certain genres. Those raise revenue on their own.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analysis asks: how much would revenue change if only the budget changed?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303520" y="109728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6E1D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0" y="1280160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989320" y="118872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Budget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does a higher budget change revenue?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303520" y="242316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6E1D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0" y="2606040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989320" y="251460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Franchise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does being part of a collection change revenue?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" y="384048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6E1D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594360" y="38862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3,000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1783080" y="38862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291840" y="384048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6E1D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3429000" y="38862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4617720" y="38862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126480" y="384048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6E1D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6263640" y="38862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7452360" y="38862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questions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audit and cleaning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NITHISHKUMAR P  |  Movie Revenue Driver Analysis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45720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1D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594360" y="114300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4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 of budgets are 0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44475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to missing, kept a budget_missing flag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965960"/>
            <a:ext cx="45720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1D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594360" y="20116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4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2-digit years (2/20/15)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31343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to 1921 to 2017, no 2060s dates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2834640"/>
            <a:ext cx="45720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1D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594360" y="288036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4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JSON-like text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318211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genres, cast, crew into counts, flags, dummies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" y="3703320"/>
            <a:ext cx="45720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1D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594360" y="37490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4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heavily skewed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94360" y="405079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log(1 + revenue): skew 4.5 down to -1.6</a:t>
            </a:r>
            <a:endParaRPr lang="en-US" sz="13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5303520" y="1005840"/>
          <a:ext cx="347472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Text 14"/>
          <p:cNvSpPr txBox="1"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movies report revenue under $1,000 (likely errors); sensitivity tested later.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EDA: what the raw data shows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NITHISHKUMAR P  |  Movie Revenue Driver Analysis</a:t>
            </a:r>
            <a:endParaRPr lang="en-US" sz="1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005840"/>
          <a:ext cx="45720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2"/>
          <p:cNvSpPr/>
          <p:nvPr/>
        </p:nvSpPr>
        <p:spPr>
          <a:xfrm>
            <a:off x="5394960" y="105156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6E1D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 txBox="1"/>
          <p:nvPr/>
        </p:nvSpPr>
        <p:spPr>
          <a:xfrm>
            <a:off x="5532120" y="112471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0.66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5532120" y="158191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of log budget and log revenue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394960" y="224028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6E1D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5532120" y="23134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$67.4M vs $11.4M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5532120" y="277063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revenue, franchise vs standalone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394960" y="342900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6E1D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5532120" y="35021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Dec, Jun, Jul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5532120" y="395935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release months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5394960" y="45720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only: correlation, not causation.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Causal graph: what to adjust for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NITHISHKUMAR P  |  Movie Revenue Driver Analysis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365760" y="1371600"/>
            <a:ext cx="2286000" cy="2697480"/>
          </a:xfrm>
          <a:prstGeom prst="roundRect">
            <a:avLst>
              <a:gd name="adj" fmla="val 4000"/>
            </a:avLst>
          </a:prstGeom>
          <a:solidFill>
            <a:srgbClr val="EAF0F8"/>
          </a:solidFill>
          <a:ln w="12700">
            <a:solidFill>
              <a:srgbClr val="4A78B5"/>
            </a:solidFill>
            <a:prstDash val="dash"/>
          </a:ln>
        </p:spPr>
      </p:sp>
      <p:sp>
        <p:nvSpPr>
          <p:cNvPr id="6" name="Text 3"/>
          <p:cNvSpPr txBox="1"/>
          <p:nvPr/>
        </p:nvSpPr>
        <p:spPr>
          <a:xfrm>
            <a:off x="365760" y="13898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7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Confounders: adjust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02920" y="1719072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4A78B5"/>
          </a:solidFill>
          <a:ln w="12700">
            <a:solidFill>
              <a:srgbClr val="4A78B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02920" y="17190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(release year)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2920" y="2304288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4A78B5"/>
          </a:solidFill>
          <a:ln w="12700">
            <a:solidFill>
              <a:srgbClr val="4A78B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" y="230428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2889504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4A78B5"/>
          </a:solidFill>
          <a:ln w="12700">
            <a:solidFill>
              <a:srgbClr val="4A78B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02920" y="288950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/ country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02920" y="347472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4A78B5"/>
          </a:solidFill>
          <a:ln w="12700">
            <a:solidFill>
              <a:srgbClr val="4A78B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02920" y="3474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749040" y="2377440"/>
            <a:ext cx="1371600" cy="685800"/>
          </a:xfrm>
          <a:prstGeom prst="roundRect">
            <a:avLst>
              <a:gd name="adj" fmla="val 10667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749040" y="23774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(treatment)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00800" y="2377440"/>
            <a:ext cx="1371600" cy="685800"/>
          </a:xfrm>
          <a:prstGeom prst="roundRect">
            <a:avLst>
              <a:gd name="adj" fmla="val 10667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0" y="23774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(outcome)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749040" y="393192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B8BFC9"/>
          </a:solidFill>
          <a:ln w="12700">
            <a:solidFill>
              <a:srgbClr val="B8BFC9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749040" y="3931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size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400800" y="393192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B8BFC9"/>
          </a:solidFill>
          <a:ln w="12700">
            <a:solidFill>
              <a:srgbClr val="B8BFC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00800" y="3931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2697480" y="2286000"/>
            <a:ext cx="1005840" cy="164592"/>
          </a:xfrm>
          <a:prstGeom prst="line">
            <a:avLst/>
          </a:prstGeom>
          <a:noFill/>
          <a:ln w="25400">
            <a:solidFill>
              <a:srgbClr val="4A78B5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5166360" y="2715768"/>
            <a:ext cx="1188720" cy="0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4434840" y="3108960"/>
            <a:ext cx="0" cy="777240"/>
          </a:xfrm>
          <a:prstGeom prst="line">
            <a:avLst/>
          </a:prstGeom>
          <a:noFill/>
          <a:ln w="19050">
            <a:solidFill>
              <a:srgbClr val="5F6B7A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5166360" y="3108960"/>
            <a:ext cx="1188720" cy="822960"/>
          </a:xfrm>
          <a:prstGeom prst="line">
            <a:avLst/>
          </a:prstGeom>
          <a:noFill/>
          <a:ln w="19050">
            <a:solidFill>
              <a:srgbClr val="5F6B7A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7086600" y="3108960"/>
            <a:ext cx="0" cy="777240"/>
          </a:xfrm>
          <a:prstGeom prst="line">
            <a:avLst/>
          </a:prstGeom>
          <a:noFill/>
          <a:ln w="19050">
            <a:solidFill>
              <a:srgbClr val="5F6B7A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2651760" y="1188720"/>
            <a:ext cx="4434840" cy="0"/>
          </a:xfrm>
          <a:prstGeom prst="line">
            <a:avLst/>
          </a:prstGeom>
          <a:noFill/>
          <a:ln w="25400">
            <a:solidFill>
              <a:srgbClr val="4A78B5"/>
            </a:solidFill>
            <a:prstDash val="dash"/>
          </a:ln>
        </p:spPr>
      </p:sp>
      <p:sp>
        <p:nvSpPr>
          <p:cNvPr id="29" name="Shape 26"/>
          <p:cNvSpPr/>
          <p:nvPr/>
        </p:nvSpPr>
        <p:spPr>
          <a:xfrm>
            <a:off x="2651760" y="1188720"/>
            <a:ext cx="0" cy="182880"/>
          </a:xfrm>
          <a:prstGeom prst="line">
            <a:avLst/>
          </a:prstGeom>
          <a:noFill/>
          <a:ln w="25400">
            <a:solidFill>
              <a:srgbClr val="4A78B5"/>
            </a:solidFill>
            <a:prstDash val="dash"/>
          </a:ln>
        </p:spPr>
      </p:sp>
      <p:sp>
        <p:nvSpPr>
          <p:cNvPr id="30" name="Shape 27"/>
          <p:cNvSpPr/>
          <p:nvPr/>
        </p:nvSpPr>
        <p:spPr>
          <a:xfrm>
            <a:off x="7086600" y="1188720"/>
            <a:ext cx="0" cy="1143000"/>
          </a:xfrm>
          <a:prstGeom prst="line">
            <a:avLst/>
          </a:prstGeom>
          <a:noFill/>
          <a:ln w="25400">
            <a:solidFill>
              <a:srgbClr val="4A78B5"/>
            </a:solidFill>
            <a:prstDash val="solid"/>
            <a:tailEnd type="triangle"/>
          </a:ln>
        </p:spPr>
      </p:sp>
      <p:sp>
        <p:nvSpPr>
          <p:cNvPr id="31" name="Text 28"/>
          <p:cNvSpPr txBox="1"/>
          <p:nvPr/>
        </p:nvSpPr>
        <p:spPr>
          <a:xfrm>
            <a:off x="3108960" y="9144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7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confounders also affect revenue directly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365760" y="413308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 nodes are consequences of budget (and popularity of revenue). Adjusting for them biases the budget effect, so they are excluded.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NITHISHKUMAR P  |  Movie Revenue Driver Analysis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6E1D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280160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126187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Backdoor adjustment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7830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of log revenue on log budget plus confounders (era, genre, language/country, franchise). Robust (HC1) standard errors.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663440" y="109728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6E1D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46320" y="1280160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4632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349240" y="126187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Weighting (IPW)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892040" y="17830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Propensity score for franchise status; re-weight so groups look alike. 200-sample bootstrap confidence interval.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457200" y="288036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6E1D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3063240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143000" y="30449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Balance check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35661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mean differences before and after weighting; maximum about 0.11 after weighting.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4663440" y="288036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6E1D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846320" y="3063240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84632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349240" y="30449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Refutation tests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4892040" y="35661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Placebo treatment, random common cause, 80% subsets and revenue-filter sensitivity. Optional DoWhy cross-check.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Results: budget and franchise effects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NITHISHKUMAR P  |  Movie Revenue Driver Analysis</a:t>
            </a:r>
            <a:endParaRPr lang="en-US" sz="1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005840"/>
          <a:ext cx="448056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2"/>
          <p:cNvSpPr/>
          <p:nvPr/>
        </p:nvSpPr>
        <p:spPr>
          <a:xfrm>
            <a:off x="5303520" y="105156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6E1D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 txBox="1"/>
          <p:nvPr/>
        </p:nvSpPr>
        <p:spPr>
          <a:xfrm>
            <a:off x="5486400" y="11155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5486400" y="13716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0.70</a:t>
            </a:r>
            <a:endParaRPr lang="en-US" sz="3400" dirty="0"/>
          </a:p>
        </p:txBody>
      </p:sp>
      <p:sp>
        <p:nvSpPr>
          <p:cNvPr id="9" name="Text 5"/>
          <p:cNvSpPr txBox="1"/>
          <p:nvPr/>
        </p:nvSpPr>
        <p:spPr>
          <a:xfrm>
            <a:off x="5486400" y="193852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 0.57 to 0.83. A 10% higher budget goes with about 6.9% higher revenue.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303520" y="292608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6E1D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5486400" y="29900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5486400" y="32461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 4x</a:t>
            </a:r>
            <a:endParaRPr lang="en-US" sz="3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0" y="381304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gap 1.81 falls to 1.38 log points after adjustment; IPW gives 1.35.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the results survive stress tests?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NITHISHKUMAR P  |  Movie Revenue Driver Analysis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Placebo (shuffle budget)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-0.001, range -0.047 to 0.043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Pass: effect near 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common cause added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0.703 unchanged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 random subsets (200x)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0.700, range 0.653 to 0.773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Pass: stable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filter: $1 / $1,000 / $100,000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 / 0.70 / 0.59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C84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Sensitive: report a range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 controls (+ popularity, cast size)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C84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Biased: excluded by design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1D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 txBox="1"/>
          <p:nvPr/>
        </p:nvSpPr>
        <p:spPr>
          <a:xfrm>
            <a:off x="640080" y="3931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Heterogeneity: </a:t>
            </a:r>
            <a:r>
              <a:rPr lang="en-US" sz="13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budget effect is larger for films released in 2000 or later (0.79) than before 2000 (0.54).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Streamlit: Overview and Explorer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NITHISHKUMAR P  |  Movie Revenue Driver Analysis</a:t>
            </a:r>
            <a:endParaRPr lang="en-US" sz="1000" dirty="0"/>
          </a:p>
        </p:txBody>
      </p:sp>
      <p:pic>
        <p:nvPicPr>
          <p:cNvPr id="5" name="Image 0" descr="/mnt/user-data/outputs/images/streamlit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4069080" cy="2331720"/>
          </a:xfrm>
          <a:prstGeom prst="rect">
            <a:avLst/>
          </a:prstGeom>
        </p:spPr>
      </p:pic>
      <p:pic>
        <p:nvPicPr>
          <p:cNvPr id="6" name="Image 1" descr="/mnt/user-data/outputs/images/streamlit_explor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1005840"/>
            <a:ext cx="4069080" cy="233172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457200" y="338328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Overview: KPIs, revenue distribution (log10), median revenue by year</a:t>
            </a:r>
            <a:endParaRPr lang="en-US" sz="1050" dirty="0"/>
          </a:p>
        </p:txBody>
      </p:sp>
      <p:sp>
        <p:nvSpPr>
          <p:cNvPr id="8" name="Text 3"/>
          <p:cNvSpPr txBox="1"/>
          <p:nvPr/>
        </p:nvSpPr>
        <p:spPr>
          <a:xfrm>
            <a:off x="4617720" y="338328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Explorer: revenue vs budget on log axes, franchise (red) vs standalone (blue)</a:t>
            </a:r>
            <a:endParaRPr lang="en-US" sz="1050" dirty="0"/>
          </a:p>
        </p:txBody>
      </p:sp>
      <p:sp>
        <p:nvSpPr>
          <p:cNvPr id="9" name="Shape 4"/>
          <p:cNvSpPr/>
          <p:nvPr/>
        </p:nvSpPr>
        <p:spPr>
          <a:xfrm>
            <a:off x="457200" y="379476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6E1D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5"/>
          <p:cNvSpPr txBox="1"/>
          <p:nvPr/>
        </p:nvSpPr>
        <p:spPr>
          <a:xfrm>
            <a:off x="548640" y="382219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pages</a:t>
            </a:r>
            <a:endParaRPr lang="en-US" sz="1200" dirty="0"/>
          </a:p>
        </p:txBody>
      </p:sp>
      <p:sp>
        <p:nvSpPr>
          <p:cNvPr id="11" name="Text 6"/>
          <p:cNvSpPr txBox="1"/>
          <p:nvPr/>
        </p:nvSpPr>
        <p:spPr>
          <a:xfrm>
            <a:off x="548640" y="4078224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Overview, Explorer, Causal results, Budget what-if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2542032" y="379476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6E1D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8"/>
          <p:cNvSpPr txBox="1"/>
          <p:nvPr/>
        </p:nvSpPr>
        <p:spPr>
          <a:xfrm>
            <a:off x="2633472" y="382219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filters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2633472" y="4078224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Years, genres, known budget, franchise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4626864" y="379476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6E1D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1"/>
          <p:cNvSpPr txBox="1"/>
          <p:nvPr/>
        </p:nvSpPr>
        <p:spPr>
          <a:xfrm>
            <a:off x="4718304" y="382219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Extras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4718304" y="4078224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table, CSV download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711696" y="379476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6E1D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4"/>
          <p:cNvSpPr txBox="1"/>
          <p:nvPr/>
        </p:nvSpPr>
        <p:spPr>
          <a:xfrm>
            <a:off x="6803136" y="382219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6803136" y="4078224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Streamlit, Plotly, pandas, caching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Streamlit: causal results and what-if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NITHISHKUMAR P  |  Movie Revenue Driver Analysis</a:t>
            </a:r>
            <a:endParaRPr lang="en-US" sz="1000" dirty="0"/>
          </a:p>
        </p:txBody>
      </p:sp>
      <p:pic>
        <p:nvPicPr>
          <p:cNvPr id="5" name="Image 0" descr="/mnt/user-data/outputs/images/streamlit_caus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5029200" cy="2788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3840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results: forest plot (x-axis = coefficient on log revenue) and table</a:t>
            </a:r>
            <a:endParaRPr lang="en-US" sz="1100" dirty="0"/>
          </a:p>
        </p:txBody>
      </p:sp>
      <p:pic>
        <p:nvPicPr>
          <p:cNvPr id="7" name="Image 1" descr="/tmp/img/whatif_t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1005840"/>
            <a:ext cx="3017520" cy="667512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5669280" y="1737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what-if: $20M to $30M gives about +33% (26% to 40%)</a:t>
            </a:r>
            <a:endParaRPr lang="en-US" sz="1100" dirty="0"/>
          </a:p>
        </p:txBody>
      </p:sp>
      <p:sp>
        <p:nvSpPr>
          <p:cNvPr id="9" name="Shape 4"/>
          <p:cNvSpPr/>
          <p:nvPr/>
        </p:nvSpPr>
        <p:spPr>
          <a:xfrm>
            <a:off x="5669280" y="2286000"/>
            <a:ext cx="30175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E6E1D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5"/>
          <p:cNvSpPr txBox="1"/>
          <p:nvPr/>
        </p:nvSpPr>
        <p:spPr>
          <a:xfrm>
            <a:off x="5806440" y="2377440"/>
            <a:ext cx="27432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what-if works</a:t>
            </a:r>
            <a:endParaRPr lang="en-US" sz="1250" dirty="0"/>
          </a:p>
          <a:p>
            <a:pPr marL="0" indent="0">
              <a:buNone/>
            </a:pPr>
            <a:r>
              <a:rPr lang="en-US" sz="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change = (new budget / current budget) ^ 0.70 - 1</a:t>
            </a:r>
            <a:endParaRPr lang="en-US" sz="1250" dirty="0"/>
          </a:p>
          <a:p>
            <a:pPr marL="0" indent="0">
              <a:buNone/>
            </a:pPr>
            <a:r>
              <a:rPr lang="en-US" sz="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interval uses the elasticity limits 0.57 to 0.83.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 BI dashboard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NITHISHKUMAR P  |  Movie Revenue Driver Analysis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6E1D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594360" y="11155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50876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KPI cards, 3 slicers, median revenue by year, genre and budget band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291840" y="105156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6E1D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3429000" y="11155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Drivers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3429000" y="150876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vs revenue scatter (log axes), franchise vs standalone, release month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26480" y="105156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6E1D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263640" y="11155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Causal results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6263640" y="150876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table and chart, budget what-if slider, interpretation notes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57200" y="297180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6E1D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640080" y="30358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333756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(3,000 rows)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movie_genres (7,511 rows) linked one-to-many, filters both ways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causal_results (14 rows), standalone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663440" y="297180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846320" y="30358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DAX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846320" y="3337560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Median Revenue (M) =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DIVIDE(MEDIAN(movies[revenue]), 1000000)</a:t>
            </a:r>
            <a:endParaRPr lang="en-US" sz="1100" dirty="0"/>
          </a:p>
          <a:p>
            <a:pPr marL="0" indent="0">
              <a:buNone/>
            </a:pPr>
            <a:r>
              <a:rPr lang="en-US" sz="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Revenue Change % =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(1 + [Budget Change %] / 100) ^ [Elasticity] - 1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 BI: Overview and Drivers pages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NITHISHKUMAR P  |  Movie Revenue Driver Analysis</a:t>
            </a:r>
            <a:endParaRPr lang="en-US" sz="1000" dirty="0"/>
          </a:p>
        </p:txBody>
      </p:sp>
      <p:pic>
        <p:nvPicPr>
          <p:cNvPr id="5" name="Image 0" descr="/tmp/img/powerbi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4069080" cy="2331720"/>
          </a:xfrm>
          <a:prstGeom prst="rect">
            <a:avLst/>
          </a:prstGeom>
        </p:spPr>
      </p:pic>
      <p:pic>
        <p:nvPicPr>
          <p:cNvPr id="6" name="Image 1" descr="/tmp/img/powerbi_driv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1005840"/>
            <a:ext cx="4069080" cy="233172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457200" y="338328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Overview: KPIs, slicers, revenue by year, genre, budget band</a:t>
            </a:r>
            <a:endParaRPr lang="en-US" sz="1050" dirty="0"/>
          </a:p>
        </p:txBody>
      </p:sp>
      <p:sp>
        <p:nvSpPr>
          <p:cNvPr id="8" name="Text 3"/>
          <p:cNvSpPr txBox="1"/>
          <p:nvPr/>
        </p:nvSpPr>
        <p:spPr>
          <a:xfrm>
            <a:off x="4617720" y="338328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Drivers: budget vs revenue, franchise, release month</a:t>
            </a:r>
            <a:endParaRPr lang="en-US" sz="1050" dirty="0"/>
          </a:p>
        </p:txBody>
      </p:sp>
      <p:sp>
        <p:nvSpPr>
          <p:cNvPr id="9" name="Shape 4"/>
          <p:cNvSpPr/>
          <p:nvPr/>
        </p:nvSpPr>
        <p:spPr>
          <a:xfrm>
            <a:off x="457200" y="379476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6E1D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5"/>
          <p:cNvSpPr txBox="1"/>
          <p:nvPr/>
        </p:nvSpPr>
        <p:spPr>
          <a:xfrm>
            <a:off x="640080" y="379476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findings: </a:t>
            </a:r>
            <a:r>
              <a:rPr lang="en-US" sz="12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revenue $16.8M overall; franchise $67.4M vs standalone $11.4M (5.9x); December, June and July are the strongest months. The next page tests how much of this survives adjustment.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 BI: Causal Results page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NITHISHKUMAR P  |  Movie Revenue Driver Analysis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11480" y="1005840"/>
            <a:ext cx="576072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6E1D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/tmp/img/pbi_caus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24128"/>
            <a:ext cx="5669280" cy="32461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431596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 export, Causal Results page (budget change slider at +10%)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6400800" y="1005840"/>
            <a:ext cx="2286000" cy="3264408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E6E1D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6537960" y="1097280"/>
            <a:ext cx="2057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this page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and chart of estimates, filtered by question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Change % slider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Cards: 6.9% central, 5.6% to 8.3% range at +10%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on assumptions and limits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2801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matters, less than raw numbers suggest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6002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elasticity 0.70, down from 0.78 unadjusted.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1945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 status is a large driver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5146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4x revenue after adjustment (raw medians show 5.9x).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1089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adjust for changes the answer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4290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Controlling for popularity and cast size biases the estimate.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023360"/>
            <a:ext cx="7863840" cy="777240"/>
          </a:xfrm>
          <a:prstGeom prst="roundRect">
            <a:avLst>
              <a:gd name="adj" fmla="val 9412"/>
            </a:avLst>
          </a:prstGeom>
          <a:solidFill>
            <a:srgbClr val="1B2D47"/>
          </a:solidFill>
          <a:ln w="12700">
            <a:solidFill>
              <a:srgbClr val="1B2D4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02336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unmeasured confounders (star power, marketing), 27% of budgets unknown, sensitivity to tiny revenue values, and results rest on the assumptions in the DAG.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1538</Words>
  <Application>Microsoft Office PowerPoint</Application>
  <PresentationFormat>On-screen Show (16:9)</PresentationFormat>
  <Paragraphs>195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Movie Revenue Driver Analysis Using Causal Models</dc:title>
  <dc:subject>PptxGenJS Presentation</dc:subject>
  <dc:creator>NITHISHKUMAR P</dc:creator>
  <cp:lastModifiedBy>jamuna.anand@outlook.com</cp:lastModifiedBy>
  <cp:revision>3</cp:revision>
  <dcterms:created xsi:type="dcterms:W3CDTF">2026-10-03T12:23:06Z</dcterms:created>
  <dcterms:modified xsi:type="dcterms:W3CDTF">2026-10-03T13:07:39Z</dcterms:modified>
</cp:coreProperties>
</file>